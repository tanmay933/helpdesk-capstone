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72600" y="0"/>
            <a:ext cx="64008" cy="6858000"/>
          </a:xfrm>
          <a:prstGeom prst="rect">
            <a:avLst/>
          </a:prstGeom>
          <a:solidFill>
            <a:srgbClr val="2D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27648"/>
            <a:ext cx="8046720" cy="53035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713232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800" b="1">
                <a:solidFill>
                  <a:srgbClr val="2DBEC8"/>
                </a:solidFill>
                <a:latin typeface="Aptos"/>
              </a:defRPr>
            </a:pPr>
            <a:r>
              <a:t>HELPDESK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768096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Aptos"/>
              </a:defRPr>
            </a:pPr>
            <a:r>
              <a:t>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7040880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200" b="0">
                <a:solidFill>
                  <a:srgbClr val="DCE5F0"/>
                </a:solidFill>
                <a:latin typeface="Aptos"/>
              </a:defRPr>
            </a:pPr>
            <a:r>
              <a:t>From application code to automated delivery and observability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713232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0">
                <a:solidFill>
                  <a:srgbClr val="A4B4C8"/>
                </a:solidFill>
                <a:latin typeface="Aptos"/>
              </a:defRPr>
            </a:pPr>
            <a:r>
              <a:t>React • FastAPI • PostgreSQL • Docker • GitHub Actions • Kubernetes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713232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github.com/tanmay933/helpdesk-capstone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2331720"/>
            <a:ext cx="201168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PROJECT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71323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ptos"/>
              </a:defRPr>
            </a:pPr>
            <a:r>
              <a:t>Tanmay Mittal  |  Roll No. 24BCS10491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01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029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000" b="1">
                <a:solidFill>
                  <a:srgbClr val="A4B4C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Build a support-ticket application with a usable web interface and REST API.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Automate quality checks and image delivery with CI/CD.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Scan container images before publishing them.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Define AWS infrastructure as code and configure Kubernetes deployments.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Expose application and infrastructure signals through Prometheus and Grafana.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02 ·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End-to-end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029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000" b="1">
                <a:solidFill>
                  <a:srgbClr val="A4B4C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057400" cy="960120"/>
          </a:xfrm>
          <a:prstGeom prst="roundRect">
            <a:avLst/>
          </a:prstGeom>
          <a:solidFill>
            <a:srgbClr val="1C2A40"/>
          </a:solidFill>
          <a:ln>
            <a:solidFill>
              <a:srgbClr val="33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938528"/>
            <a:ext cx="176479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37AE6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304288"/>
            <a:ext cx="1764792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Git +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57400"/>
            <a:ext cx="32004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2DBE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828800"/>
            <a:ext cx="2240280" cy="960120"/>
          </a:xfrm>
          <a:prstGeom prst="roundRect">
            <a:avLst/>
          </a:prstGeom>
          <a:solidFill>
            <a:srgbClr val="1C2A40"/>
          </a:solidFill>
          <a:ln>
            <a:solidFill>
              <a:srgbClr val="2D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1938528"/>
            <a:ext cx="194767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2DBEC8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544" y="2304288"/>
            <a:ext cx="1947672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2057400"/>
            <a:ext cx="32004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2DBE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1828800"/>
            <a:ext cx="2011680" cy="960120"/>
          </a:xfrm>
          <a:prstGeom prst="roundRect">
            <a:avLst/>
          </a:prstGeom>
          <a:solidFill>
            <a:srgbClr val="1C2A40"/>
          </a:solidFill>
          <a:ln>
            <a:solidFill>
              <a:srgbClr val="3A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9864" y="1938528"/>
            <a:ext cx="171907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AB97D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9864" y="2304288"/>
            <a:ext cx="1719072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GHCR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057400"/>
            <a:ext cx="32004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2DBE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246120" cy="960120"/>
          </a:xfrm>
          <a:prstGeom prst="roundRect">
            <a:avLst/>
          </a:prstGeom>
          <a:solidFill>
            <a:srgbClr val="1C2A40"/>
          </a:solidFill>
          <a:ln>
            <a:solidFill>
              <a:srgbClr val="F4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938528"/>
            <a:ext cx="295351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F4A442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304288"/>
            <a:ext cx="2953512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Kubernetes + Helm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657600"/>
            <a:ext cx="3108960" cy="1234440"/>
          </a:xfrm>
          <a:prstGeom prst="roundRect">
            <a:avLst/>
          </a:prstGeom>
          <a:solidFill>
            <a:srgbClr val="1C2A40"/>
          </a:solidFill>
          <a:ln>
            <a:solidFill>
              <a:srgbClr val="33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3" y="3767328"/>
            <a:ext cx="28163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37AE6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4133087"/>
            <a:ext cx="2816352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React frontend</a:t>
            </a:r>
            <a:br/>
            <a:r>
              <a:t>FastAPI backend</a:t>
            </a:r>
            <a:br/>
            <a:r>
              <a:t>PostgreSQL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657600"/>
            <a:ext cx="3108960" cy="1234440"/>
          </a:xfrm>
          <a:prstGeom prst="roundRect">
            <a:avLst/>
          </a:prstGeom>
          <a:solidFill>
            <a:srgbClr val="1C2A40"/>
          </a:solidFill>
          <a:ln>
            <a:solidFill>
              <a:srgbClr val="F4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584" y="3767328"/>
            <a:ext cx="28163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F4A442"/>
                </a:solidFill>
                <a:latin typeface="Aptos"/>
              </a:defRPr>
            </a:pPr>
            <a:r>
              <a:t>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584" y="4133087"/>
            <a:ext cx="2816352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Terraform</a:t>
            </a:r>
            <a:br/>
            <a:r>
              <a:t>AWS VPC + EKS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657600"/>
            <a:ext cx="3108960" cy="1234440"/>
          </a:xfrm>
          <a:prstGeom prst="roundRect">
            <a:avLst/>
          </a:prstGeom>
          <a:solidFill>
            <a:srgbClr val="1C2A40"/>
          </a:solidFill>
          <a:ln>
            <a:solidFill>
              <a:srgbClr val="3A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767328"/>
            <a:ext cx="28163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AB97D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4133087"/>
            <a:ext cx="2816352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Prometheus</a:t>
            </a:r>
            <a:br/>
            <a:r>
              <a:t>Grafana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700" b="0">
                <a:solidFill>
                  <a:srgbClr val="DCE5F0"/>
                </a:solidFill>
                <a:latin typeface="Aptos"/>
              </a:defRPr>
            </a:pPr>
            <a:r>
              <a:t>CI validates and packages code; Kubernetes runs workloads; monitoring makes behavior 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03 ·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029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000" b="1">
                <a:solidFill>
                  <a:srgbClr val="A4B4C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685800"/>
          </a:xfrm>
          <a:prstGeom prst="roundRect">
            <a:avLst/>
          </a:prstGeom>
          <a:solidFill>
            <a:srgbClr val="1C2A40"/>
          </a:solidFill>
          <a:ln>
            <a:solidFill>
              <a:srgbClr val="33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801368"/>
            <a:ext cx="48737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37AE6"/>
                </a:solidFill>
                <a:latin typeface="Aptos"/>
              </a:defRPr>
            </a:pPr>
            <a:r>
              <a:t>STACK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167128"/>
            <a:ext cx="4873752" cy="137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Frontend: React, Vite, Nginx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166360" cy="685800"/>
          </a:xfrm>
          <a:prstGeom prst="roundRect">
            <a:avLst/>
          </a:prstGeom>
          <a:solidFill>
            <a:srgbClr val="1C2A40"/>
          </a:solidFill>
          <a:ln>
            <a:solidFill>
              <a:srgbClr val="2D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801368"/>
            <a:ext cx="48737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2DBEC8"/>
                </a:solidFill>
                <a:latin typeface="Aptos"/>
              </a:defRPr>
            </a:pPr>
            <a:r>
              <a:t>STACK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167128"/>
            <a:ext cx="4873752" cy="137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Backend: Python, FastAPI, 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42032"/>
            <a:ext cx="5166360" cy="685800"/>
          </a:xfrm>
          <a:prstGeom prst="roundRect">
            <a:avLst/>
          </a:prstGeom>
          <a:solidFill>
            <a:srgbClr val="1C2A40"/>
          </a:solidFill>
          <a:ln>
            <a:solidFill>
              <a:srgbClr val="3A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651760"/>
            <a:ext cx="48737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AB97D"/>
                </a:solidFill>
                <a:latin typeface="Aptos"/>
              </a:defRPr>
            </a:pPr>
            <a:r>
              <a:t>STACK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017520"/>
            <a:ext cx="4873752" cy="137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Database: PostgreSQL, SQLAlchemy, Alembic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42032"/>
            <a:ext cx="5166360" cy="685800"/>
          </a:xfrm>
          <a:prstGeom prst="roundRect">
            <a:avLst/>
          </a:prstGeom>
          <a:solidFill>
            <a:srgbClr val="1C2A40"/>
          </a:solidFill>
          <a:ln>
            <a:solidFill>
              <a:srgbClr val="F4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651760"/>
            <a:ext cx="48737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F4A442"/>
                </a:solidFill>
                <a:latin typeface="Aptos"/>
              </a:defRPr>
            </a:pPr>
            <a:r>
              <a:t>STACK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17520"/>
            <a:ext cx="4873752" cy="137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Testing: Pytest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92424"/>
            <a:ext cx="5166360" cy="685800"/>
          </a:xfrm>
          <a:prstGeom prst="roundRect">
            <a:avLst/>
          </a:prstGeom>
          <a:solidFill>
            <a:srgbClr val="1C2A40"/>
          </a:solidFill>
          <a:ln>
            <a:solidFill>
              <a:srgbClr val="33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502152"/>
            <a:ext cx="48737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37AE6"/>
                </a:solidFill>
                <a:latin typeface="Aptos"/>
              </a:defRPr>
            </a:pPr>
            <a:r>
              <a:t>STACK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3867912"/>
            <a:ext cx="4873752" cy="137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Containers: Docker and Docker Compose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392424"/>
            <a:ext cx="5166360" cy="685800"/>
          </a:xfrm>
          <a:prstGeom prst="roundRect">
            <a:avLst/>
          </a:prstGeom>
          <a:solidFill>
            <a:srgbClr val="1C2A40"/>
          </a:solidFill>
          <a:ln>
            <a:solidFill>
              <a:srgbClr val="2D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502152"/>
            <a:ext cx="48737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2DBEC8"/>
                </a:solidFill>
                <a:latin typeface="Aptos"/>
              </a:defRPr>
            </a:pPr>
            <a:r>
              <a:t>STACK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867912"/>
            <a:ext cx="4873752" cy="137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CI/CD and registry: GitHub Actions and GHCR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242816"/>
            <a:ext cx="5166360" cy="685800"/>
          </a:xfrm>
          <a:prstGeom prst="roundRect">
            <a:avLst/>
          </a:prstGeom>
          <a:solidFill>
            <a:srgbClr val="1C2A40"/>
          </a:solidFill>
          <a:ln>
            <a:solidFill>
              <a:srgbClr val="3A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352544"/>
            <a:ext cx="48737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AB97D"/>
                </a:solidFill>
                <a:latin typeface="Aptos"/>
              </a:defRPr>
            </a:pPr>
            <a:r>
              <a:t>STACK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718304"/>
            <a:ext cx="4873752" cy="137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Security: Trivy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242816"/>
            <a:ext cx="5166360" cy="685800"/>
          </a:xfrm>
          <a:prstGeom prst="roundRect">
            <a:avLst/>
          </a:prstGeom>
          <a:solidFill>
            <a:srgbClr val="1C2A40"/>
          </a:solidFill>
          <a:ln>
            <a:solidFill>
              <a:srgbClr val="F4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352544"/>
            <a:ext cx="48737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F4A442"/>
                </a:solidFill>
                <a:latin typeface="Aptos"/>
              </a:defRPr>
            </a:pPr>
            <a:r>
              <a:t>STACK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4718304"/>
            <a:ext cx="4873752" cy="137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Infrastructure and orchestration: Terraform, AWS, Kubernetes, Helm, Ingress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093208"/>
            <a:ext cx="5166360" cy="685800"/>
          </a:xfrm>
          <a:prstGeom prst="roundRect">
            <a:avLst/>
          </a:prstGeom>
          <a:solidFill>
            <a:srgbClr val="1C2A40"/>
          </a:solidFill>
          <a:ln>
            <a:solidFill>
              <a:srgbClr val="33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" y="5202936"/>
            <a:ext cx="487375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37AE6"/>
                </a:solidFill>
                <a:latin typeface="Aptos"/>
              </a:defRPr>
            </a:pPr>
            <a:r>
              <a:t>STACK 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" y="5568696"/>
            <a:ext cx="4873752" cy="137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Observability: Prometheus and Grafana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04 ·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Application and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029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000" b="1">
                <a:solidFill>
                  <a:srgbClr val="A4B4C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83280" cy="1965960"/>
          </a:xfrm>
          <a:prstGeom prst="roundRect">
            <a:avLst/>
          </a:prstGeom>
          <a:solidFill>
            <a:srgbClr val="1C2A40"/>
          </a:solidFill>
          <a:ln>
            <a:solidFill>
              <a:srgbClr val="33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938528"/>
            <a:ext cx="309067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37AE6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304288"/>
            <a:ext cx="3090672" cy="14173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React + Vite</a:t>
            </a:r>
            <a:br/>
            <a:r>
              <a:t>Ticket management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1965960"/>
          </a:xfrm>
          <a:prstGeom prst="roundRect">
            <a:avLst/>
          </a:prstGeom>
          <a:solidFill>
            <a:srgbClr val="1C2A40"/>
          </a:solidFill>
          <a:ln>
            <a:solidFill>
              <a:srgbClr val="2D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938528"/>
            <a:ext cx="309067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2DBEC8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304288"/>
            <a:ext cx="3090672" cy="14173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FastAPI REST endpoints</a:t>
            </a:r>
            <a:br/>
            <a:r>
              <a:t>Health / readiness /metrics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828800"/>
            <a:ext cx="3383280" cy="1965960"/>
          </a:xfrm>
          <a:prstGeom prst="roundRect">
            <a:avLst/>
          </a:prstGeom>
          <a:solidFill>
            <a:srgbClr val="1C2A40"/>
          </a:solidFill>
          <a:ln>
            <a:solidFill>
              <a:srgbClr val="3A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938528"/>
            <a:ext cx="309067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AB97D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2304288"/>
            <a:ext cx="3090672" cy="14173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PostgreSQL</a:t>
            </a:r>
            <a:br/>
            <a:r>
              <a:t>SQLAlchemy + Alembic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tos"/>
              </a:defRPr>
            </a:pPr>
            <a:r>
              <a:t>Recorded test evidence: 9 tests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700" b="0">
                <a:solidFill>
                  <a:srgbClr val="A4B4C8"/>
                </a:solidFill>
                <a:latin typeface="Aptos"/>
              </a:defRPr>
            </a:pPr>
            <a:r>
              <a:t>PYTHONPATH=backend pytest -v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05 ·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CI/CD and DevSecOps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029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000" b="1">
                <a:solidFill>
                  <a:srgbClr val="A4B4C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468880" cy="1280160"/>
          </a:xfrm>
          <a:prstGeom prst="roundRect">
            <a:avLst/>
          </a:prstGeom>
          <a:solidFill>
            <a:srgbClr val="1C2A40"/>
          </a:solidFill>
          <a:ln>
            <a:solidFill>
              <a:srgbClr val="33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938528"/>
            <a:ext cx="217627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37AE6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304288"/>
            <a:ext cx="2176272" cy="7315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Pytest + frontend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2240280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000" b="1">
                <a:solidFill>
                  <a:srgbClr val="2DBE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468880" cy="1280160"/>
          </a:xfrm>
          <a:prstGeom prst="roundRect">
            <a:avLst/>
          </a:prstGeom>
          <a:solidFill>
            <a:srgbClr val="1C2A40"/>
          </a:solidFill>
          <a:ln>
            <a:solidFill>
              <a:srgbClr val="2D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1938528"/>
            <a:ext cx="217627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2DBEC8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2304288"/>
            <a:ext cx="2176272" cy="7315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Container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2240280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000" b="1">
                <a:solidFill>
                  <a:srgbClr val="2DBE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28800"/>
            <a:ext cx="2468880" cy="1280160"/>
          </a:xfrm>
          <a:prstGeom prst="roundRect">
            <a:avLst/>
          </a:prstGeom>
          <a:solidFill>
            <a:srgbClr val="1C2A40"/>
          </a:solidFill>
          <a:ln>
            <a:solidFill>
              <a:srgbClr val="F4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2824" y="1938528"/>
            <a:ext cx="217627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F4A442"/>
                </a:solidFill>
                <a:latin typeface="Aptos"/>
              </a:defRPr>
            </a:pPr>
            <a:r>
              <a:t>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2304288"/>
            <a:ext cx="2176272" cy="7315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Trivy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240280"/>
            <a:ext cx="2743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000" b="1">
                <a:solidFill>
                  <a:srgbClr val="2DBE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828800"/>
            <a:ext cx="2468880" cy="1280160"/>
          </a:xfrm>
          <a:prstGeom prst="roundRect">
            <a:avLst/>
          </a:prstGeom>
          <a:solidFill>
            <a:srgbClr val="1C2A40"/>
          </a:solidFill>
          <a:ln>
            <a:solidFill>
              <a:srgbClr val="3A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7464" y="1938528"/>
            <a:ext cx="2176272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500" b="1">
                <a:solidFill>
                  <a:srgbClr val="3AB97D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304288"/>
            <a:ext cx="2176272" cy="7315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300" b="0">
                <a:solidFill>
                  <a:srgbClr val="DCE5F0"/>
                </a:solidFill>
                <a:latin typeface="Aptos"/>
              </a:defRPr>
            </a:pPr>
            <a:r>
              <a:t>SHA-tagged GHCR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49039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DCE5F0"/>
                </a:solidFill>
                <a:latin typeface="Aptos"/>
              </a:defRPr>
            </a:pPr>
            <a:r>
              <a:t>GitHub Actions runs automated validation and builds the frontend and backend images.</a:t>
            </a:r>
          </a:p>
          <a:p>
            <a:pPr>
              <a:spcAft>
                <a:spcPts val="1200"/>
              </a:spcAft>
              <a:defRPr sz="1700">
                <a:solidFill>
                  <a:srgbClr val="DCE5F0"/>
                </a:solidFill>
                <a:latin typeface="Aptos"/>
              </a:defRPr>
            </a:pPr>
            <a:r>
              <a:t>Trivy scans both images for configured HIGH and CRITICAL vulnerabilities.</a:t>
            </a:r>
          </a:p>
          <a:p>
            <a:pPr>
              <a:spcAft>
                <a:spcPts val="1200"/>
              </a:spcAft>
              <a:defRPr sz="1700">
                <a:solidFill>
                  <a:srgbClr val="DCE5F0"/>
                </a:solidFill>
                <a:latin typeface="Aptos"/>
              </a:defRPr>
            </a:pPr>
            <a:r>
              <a:t>The workflow is configured to fail when findings meet the defined policy.</a:t>
            </a:r>
          </a:p>
          <a:p>
            <a:pPr>
              <a:spcAft>
                <a:spcPts val="1200"/>
              </a:spcAft>
              <a:defRPr sz="1700">
                <a:solidFill>
                  <a:srgbClr val="DCE5F0"/>
                </a:solidFill>
                <a:latin typeface="Aptos"/>
              </a:defRPr>
            </a:pPr>
            <a:r>
              <a:t>Commit-SHA tags improve traceability between source code and published images.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06 · TERRAFORM +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Infrastructure as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029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000" b="1">
                <a:solidFill>
                  <a:srgbClr val="A4B4C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Terraform defines the cloud infrastructure in version-controlled HCL.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Resources included a VPC, subnets, NAT gateway, EKS cluster, and managed node group.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The workflow used init, plan, apply, verification, and destroy.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Cost-control note: AWS resources were destroyed after verification.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AWS screenshots are historical evidence, not a claim that the infrastructure is currently running.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07 · WORKLOAD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Kubernetes and Helm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029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000" b="1">
                <a:solidFill>
                  <a:srgbClr val="A4B4C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Deployments declare desired replicas and rollout behavior.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Services provide stable network endpoints; Ingress can route HTTP traffic.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Helm packages Kubernetes templates and values into repeatable releases.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Health and readiness checks answer different questions.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Screenshots show captured evidence and should not be interpreted as proof of current cluster health.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08 · PROMETHEUS +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029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000" b="1">
                <a:solidFill>
                  <a:srgbClr val="A4B4C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Prometheus scrapes configured targets and stores time-series metrics.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The backend exposes a Prometheus-formatted /metrics endpoint.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Grafana turns metrics into dashboards for inspecting cluster and application behavior.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Useful signals include request volume, latency, errors, CPU, and pod resources.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A target marked UP means it was scrapeable at the time shown.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09 ·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Evidence and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05840" cy="50292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000" b="1">
                <a:solidFill>
                  <a:srgbClr val="A4B4C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Repository: github.com/tanmay933/helpdesk-capstone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Evidence includes the application/API, tests, CI pipeline, GHCR, Trivy, Kubernetes/Helm, Prometheus/Grafana, and historical AWS screenshots.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The README documents architecture, setup, endpoints, implementation, and evidence.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The rubric's live-demo goal is to show a code change, pipeline run, and deployment update when the environment is available.</a:t>
            </a:r>
          </a:p>
          <a:p>
            <a:pPr>
              <a:spcAft>
                <a:spcPts val="1200"/>
              </a:spcAft>
              <a:defRPr sz="1900">
                <a:solidFill>
                  <a:srgbClr val="DCE5F0"/>
                </a:solidFill>
                <a:latin typeface="Aptos"/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EVIDENCE ·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Application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05840" cy="45720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A4B4C8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6" name="Picture 5" descr="taskboard-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67" y="1645920"/>
            <a:ext cx="67489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100" b="0">
                <a:solidFill>
                  <a:srgbClr val="DCE5F0"/>
                </a:solidFill>
                <a:latin typeface="Aptos"/>
              </a:defRPr>
            </a:pPr>
            <a:r>
              <a:t>The HelpDesk interface running in the browser.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EVIDENCE ·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Automated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05840" cy="45720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A4B4C8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6" name="Picture 5" descr="pytest-pa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470" y="1645920"/>
            <a:ext cx="8392754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100" b="0">
                <a:solidFill>
                  <a:srgbClr val="DCE5F0"/>
                </a:solidFill>
                <a:latin typeface="Aptos"/>
              </a:defRPr>
            </a:pPr>
            <a:r>
              <a:t>Recorded test output: 9 tests passed.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EVIDENCE ·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GitHub Actions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05840" cy="45720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A4B4C8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6" name="Picture 5" descr="github-actions-pipeline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67" y="1645920"/>
            <a:ext cx="67489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100" b="0">
                <a:solidFill>
                  <a:srgbClr val="DCE5F0"/>
                </a:solidFill>
                <a:latin typeface="Aptos"/>
              </a:defRPr>
            </a:pPr>
            <a:r>
              <a:t>Successful workflow run showing automated project checks.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EVIDENCE · CONTAINER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GHCR backend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05840" cy="45720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A4B4C8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6" name="Picture 5" descr="ghcr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67" y="1645920"/>
            <a:ext cx="67489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100" b="0">
                <a:solidFill>
                  <a:srgbClr val="DCE5F0"/>
                </a:solidFill>
                <a:latin typeface="Aptos"/>
              </a:defRPr>
            </a:pPr>
            <a:r>
              <a:t>Backend container image published to GitHub Container Registry.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EVIDENCE · DEVSECOPS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Trivy 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05840" cy="45720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A4B4C8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6" name="Picture 5" descr="trivy-scan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67" y="1645920"/>
            <a:ext cx="67489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100" b="0">
                <a:solidFill>
                  <a:srgbClr val="DCE5F0"/>
                </a:solidFill>
                <a:latin typeface="Aptos"/>
              </a:defRPr>
            </a:pPr>
            <a:r>
              <a:t>Container vulnerability scan evidence from the recorded workflow.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EVIDENCE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Prometheus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05840" cy="45720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A4B4C8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6" name="Picture 5" descr="prometheus-target-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67" y="1645920"/>
            <a:ext cx="67489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100" b="0">
                <a:solidFill>
                  <a:srgbClr val="DCE5F0"/>
                </a:solidFill>
                <a:latin typeface="Aptos"/>
              </a:defRPr>
            </a:pPr>
            <a:r>
              <a:t>Target status at the time of capture.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EVIDENCE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Prometheus application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05840" cy="45720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A4B4C8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6" name="Picture 5" descr="prometheus-helpdesk-application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584" y="1645920"/>
            <a:ext cx="7348526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100" b="0">
                <a:solidFill>
                  <a:srgbClr val="DCE5F0"/>
                </a:solidFill>
                <a:latin typeface="Aptos"/>
              </a:defRPr>
            </a:pPr>
            <a:r>
              <a:t>HelpDesk application metrics collected by Prometheus.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EVIDENCE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Grafana cluster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05840" cy="45720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A4B4C8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6" name="Picture 5" descr="grafana-cluster-resource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67" y="1645920"/>
            <a:ext cx="67489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100" b="0">
                <a:solidFill>
                  <a:srgbClr val="DCE5F0"/>
                </a:solidFill>
                <a:latin typeface="Aptos"/>
              </a:defRPr>
            </a:pPr>
            <a:r>
              <a:t>Grafana dashboard for cluster resource monitoring.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2DBEC8"/>
                </a:solidFill>
                <a:latin typeface="Aptos"/>
              </a:defRPr>
            </a:pPr>
            <a:r>
              <a:t>EVIDENCE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Grafana pod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005840" cy="45720"/>
          </a:xfrm>
          <a:prstGeom prst="rect">
            <a:avLst/>
          </a:prstGeom>
          <a:solidFill>
            <a:srgbClr val="33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000" b="1">
                <a:solidFill>
                  <a:srgbClr val="A4B4C8"/>
                </a:solidFill>
                <a:latin typeface="Aptos"/>
              </a:defRPr>
            </a:pPr>
            <a:r>
              <a:t>22</a:t>
            </a:r>
          </a:p>
        </p:txBody>
      </p:sp>
      <p:pic>
        <p:nvPicPr>
          <p:cNvPr id="6" name="Picture 5" descr="grafana-helpdesk-pod-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67" y="1645920"/>
            <a:ext cx="67489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1100" b="0">
                <a:solidFill>
                  <a:srgbClr val="DCE5F0"/>
                </a:solidFill>
                <a:latin typeface="Aptos"/>
              </a:defRPr>
            </a:pPr>
            <a:r>
              <a:t>Grafana dashboard focused on HelpDesk pod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